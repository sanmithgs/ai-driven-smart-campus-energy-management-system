
<file path=[Content_Types].xml><?xml version="1.0" encoding="utf-8"?>
<Types xmlns="http://schemas.openxmlformats.org/package/2006/content-types">
  <Default Extension="fntdata" ContentType="application/x-fontdata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70" r:id="rId3"/>
    <p:sldId id="265" r:id="rId4"/>
    <p:sldId id="267" r:id="rId5"/>
    <p:sldId id="264" r:id="rId6"/>
    <p:sldId id="271" r:id="rId7"/>
    <p:sldId id="278" r:id="rId8"/>
    <p:sldId id="281" r:id="rId9"/>
    <p:sldId id="263" r:id="rId10"/>
    <p:sldId id="273" r:id="rId11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07DED4-D9D1-4398-BEC5-8713B2AA5372}" v="218" dt="2026-03-22T08:07:55.608"/>
    <p1510:client id="{CB21549D-5978-40D3-BC9A-E355A559D068}" v="16" dt="2026-03-21T12:21:47.6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2" d="100"/>
          <a:sy n="52" d="100"/>
        </p:scale>
        <p:origin x="8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795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68995-334E-76B5-DEAD-8C8DCA05C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CB3C96-6BC3-404F-AF0F-2F6831AC3A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2B5E20-3509-50E4-81FA-40B070ECA8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427131-0FEB-07CB-E9C3-1F74E73CAE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94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9709" y="549812"/>
            <a:ext cx="7627382" cy="21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Bef>
                <a:spcPts val="400"/>
              </a:spcBef>
              <a:buNone/>
            </a:pPr>
            <a:endParaRPr lang="en-US" sz="445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DE020BD-8CA8-5752-3A2B-AD8C8FF41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9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184" y="0"/>
            <a:ext cx="14630400" cy="8229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BD165C5-D8C6-5E65-6CEC-62DC96F2C02A}"/>
              </a:ext>
            </a:extLst>
          </p:cNvPr>
          <p:cNvSpPr/>
          <p:nvPr/>
        </p:nvSpPr>
        <p:spPr>
          <a:xfrm>
            <a:off x="12883753" y="7775614"/>
            <a:ext cx="1623079" cy="3551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35CA23-C30F-BDEC-6EC6-7C5C019D851B}"/>
              </a:ext>
            </a:extLst>
          </p:cNvPr>
          <p:cNvSpPr/>
          <p:nvPr/>
        </p:nvSpPr>
        <p:spPr>
          <a:xfrm>
            <a:off x="864559" y="127"/>
            <a:ext cx="12463135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sz="6000" b="1" i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AI Based Smart Energy Management System for NITW Campus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56E9AB-A20D-6E1C-7E43-178ED65EAD58}"/>
              </a:ext>
            </a:extLst>
          </p:cNvPr>
          <p:cNvSpPr/>
          <p:nvPr/>
        </p:nvSpPr>
        <p:spPr>
          <a:xfrm>
            <a:off x="-113690" y="5426840"/>
            <a:ext cx="1441963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sz="4800" b="1" i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Presented by: </a:t>
            </a:r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Team </a:t>
            </a:r>
            <a:r>
              <a:rPr lang="en-US" sz="54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Jayonva</a:t>
            </a:r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(</a:t>
            </a:r>
            <a:r>
              <a:rPr lang="en-US" sz="54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M.Tech</a:t>
            </a:r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SEG I-Year)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9810E3-2FEF-0FC7-AAC1-FAF6E6981BDC}"/>
              </a:ext>
            </a:extLst>
          </p:cNvPr>
          <p:cNvSpPr txBox="1"/>
          <p:nvPr/>
        </p:nvSpPr>
        <p:spPr>
          <a:xfrm>
            <a:off x="9527059" y="6504991"/>
            <a:ext cx="49797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sz="2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Aashish Agarwal</a:t>
            </a:r>
          </a:p>
          <a:p>
            <a:pPr marL="342900" indent="-342900">
              <a:buAutoNum type="arabicPeriod"/>
            </a:pPr>
            <a:r>
              <a:rPr lang="en-IN" sz="24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Salugu</a:t>
            </a:r>
            <a:r>
              <a:rPr lang="en-IN" sz="2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Sai Ruthesh</a:t>
            </a:r>
          </a:p>
          <a:p>
            <a:pPr marL="342900" indent="-342900">
              <a:buAutoNum type="arabicPeriod"/>
            </a:pPr>
            <a:r>
              <a:rPr lang="en-IN" sz="24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Sanmith</a:t>
            </a:r>
            <a:r>
              <a:rPr lang="en-IN" sz="2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G S</a:t>
            </a:r>
          </a:p>
          <a:p>
            <a:pPr marL="342900" indent="-342900">
              <a:buAutoNum type="arabicPeriod"/>
            </a:pPr>
            <a:r>
              <a:rPr lang="en-IN" sz="2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Sardar Arvinder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25ADC-B67A-7EF6-6A0A-CC6BE6AFE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359559-5EA9-2FCE-BF4A-285E5B3921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13"/>
          <a:stretch>
            <a:fillRect/>
          </a:stretch>
        </p:blipFill>
        <p:spPr>
          <a:xfrm>
            <a:off x="84221" y="228601"/>
            <a:ext cx="14449926" cy="77844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115266D-DB02-369B-38CC-88250E4CD9E2}"/>
              </a:ext>
            </a:extLst>
          </p:cNvPr>
          <p:cNvSpPr/>
          <p:nvPr/>
        </p:nvSpPr>
        <p:spPr>
          <a:xfrm>
            <a:off x="12883753" y="7775614"/>
            <a:ext cx="1623079" cy="3551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285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FEF780-9497-C270-47F5-E32EBFEE7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68" y="98854"/>
            <a:ext cx="14383264" cy="80318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24530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2C80ED1-904F-4ED3-E1E5-042F6205FB51}"/>
              </a:ext>
            </a:extLst>
          </p:cNvPr>
          <p:cNvSpPr/>
          <p:nvPr/>
        </p:nvSpPr>
        <p:spPr>
          <a:xfrm>
            <a:off x="12883753" y="7775614"/>
            <a:ext cx="1623079" cy="3551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32DE33-1EEA-6649-9FF5-AC6F34CFB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854"/>
            <a:ext cx="14630400" cy="803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822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67F5F1-7F1C-1E0A-E773-B016539F5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30" y="144379"/>
            <a:ext cx="14369728" cy="79408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601360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00DBA-031E-7290-2E03-A4A4DEC13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4FB9B8-A83E-EF44-E5B5-493A9D303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6148" y="7610725"/>
            <a:ext cx="2344252" cy="5346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FBA3FF-21EE-32E0-C624-423D2445A7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23473"/>
            <a:ext cx="14630400" cy="68219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7FBE76-CF56-F467-6C96-2957A54F5EFB}"/>
              </a:ext>
            </a:extLst>
          </p:cNvPr>
          <p:cNvSpPr txBox="1"/>
          <p:nvPr/>
        </p:nvSpPr>
        <p:spPr>
          <a:xfrm>
            <a:off x="691815" y="205910"/>
            <a:ext cx="1324676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b="1" i="1" u="sng" spc="50" dirty="0">
                <a:ln w="9525" cmpd="sng">
                  <a:solidFill>
                    <a:srgbClr val="4472C4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rgbClr val="4472C4">
                      <a:alpha val="40000"/>
                    </a:srgbClr>
                  </a:glow>
                </a:effectLst>
                <a:latin typeface="Calibri" panose="020F0502020204030204"/>
              </a:rPr>
              <a:t>Software Model Real Time Dashboard</a:t>
            </a:r>
            <a:endParaRPr kumimoji="0" lang="en-US" sz="5400" b="1" i="1" u="sng" strike="noStrike" kern="1200" cap="none" spc="50" normalizeH="0" baseline="0" noProof="0" dirty="0">
              <a:ln w="9525" cmpd="sng">
                <a:solidFill>
                  <a:srgbClr val="4472C4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rgbClr val="4472C4">
                    <a:alpha val="40000"/>
                  </a:srgbClr>
                </a:glo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2945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54860D-C471-7FA9-4082-B0A3613271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6148" y="7610725"/>
            <a:ext cx="2344252" cy="534654"/>
          </a:xfrm>
          <a:prstGeom prst="rect">
            <a:avLst/>
          </a:prstGeom>
        </p:spPr>
      </p:pic>
      <p:pic>
        <p:nvPicPr>
          <p:cNvPr id="4" name="WhatsApp Video 2026-03-22 at 10.29.32">
            <a:hlinkClick r:id="" action="ppaction://media"/>
            <a:extLst>
              <a:ext uri="{FF2B5EF4-FFF2-40B4-BE49-F238E27FC236}">
                <a16:creationId xmlns:a16="http://schemas.microsoft.com/office/drawing/2014/main" id="{B8F6799D-4D0D-A367-E3BD-9873D81AE93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479884" y="1335505"/>
            <a:ext cx="11598442" cy="6632217"/>
          </a:xfrm>
          <a:prstGeom prst="rect">
            <a:avLst/>
          </a:prstGeom>
          <a:ln>
            <a:noFill/>
          </a:ln>
          <a:effectLst/>
          <a:scene3d>
            <a:camera prst="orthographicFront"/>
            <a:lightRig rig="balanced" dir="t"/>
          </a:scene3d>
          <a:sp3d prstMaterial="softEdge">
            <a:bevelT w="203200" h="101600" prst="cross"/>
            <a:contourClr>
              <a:srgbClr val="FFFFFF"/>
            </a:contourClr>
          </a:sp3d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C4F78C0-FB79-1E42-B006-BB1114A79137}"/>
              </a:ext>
            </a:extLst>
          </p:cNvPr>
          <p:cNvSpPr/>
          <p:nvPr/>
        </p:nvSpPr>
        <p:spPr>
          <a:xfrm>
            <a:off x="625642" y="261878"/>
            <a:ext cx="1335505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i="1" u="sng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Smart EMS Hardware Model Validation</a:t>
            </a:r>
          </a:p>
        </p:txBody>
      </p:sp>
    </p:spTree>
    <p:extLst>
      <p:ext uri="{BB962C8B-B14F-4D97-AF65-F5344CB8AC3E}">
        <p14:creationId xmlns:p14="http://schemas.microsoft.com/office/powerpoint/2010/main" val="996960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943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24490" mute="1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CF5C0B9-054F-0C82-A771-1CC35B1DC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6148" y="7610725"/>
            <a:ext cx="2344252" cy="5346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94C880-C92C-1E20-81DA-4A8AFC5CB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7053"/>
            <a:ext cx="14630400" cy="69683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F13FBA-4C88-9567-C4E6-35BC441C2A0B}"/>
              </a:ext>
            </a:extLst>
          </p:cNvPr>
          <p:cNvSpPr txBox="1"/>
          <p:nvPr/>
        </p:nvSpPr>
        <p:spPr>
          <a:xfrm>
            <a:off x="385011" y="13174"/>
            <a:ext cx="135595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1" u="sng" strike="noStrike" kern="1200" cap="none" spc="50" normalizeH="0" baseline="0" noProof="0" dirty="0">
                <a:ln w="9525" cmpd="sng">
                  <a:solidFill>
                    <a:srgbClr val="4472C4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rgbClr val="4472C4">
                      <a:alpha val="40000"/>
                    </a:srgbClr>
                  </a:glo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Hardware Model Real Time Dashboard</a:t>
            </a:r>
          </a:p>
        </p:txBody>
      </p:sp>
    </p:spTree>
    <p:extLst>
      <p:ext uri="{BB962C8B-B14F-4D97-AF65-F5344CB8AC3E}">
        <p14:creationId xmlns:p14="http://schemas.microsoft.com/office/powerpoint/2010/main" val="900717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346157" y="521051"/>
            <a:ext cx="887742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600"/>
              </a:lnSpc>
            </a:pPr>
            <a:r>
              <a:rPr lang="en-US" sz="6000" b="1" i="1" u="sng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Results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73C8B1E-3968-A40E-1FC3-CC367AFCF6F0}"/>
              </a:ext>
            </a:extLst>
          </p:cNvPr>
          <p:cNvGrpSpPr/>
          <p:nvPr/>
        </p:nvGrpSpPr>
        <p:grpSpPr>
          <a:xfrm>
            <a:off x="10748294" y="5042952"/>
            <a:ext cx="2361962" cy="1589950"/>
            <a:chOff x="1023004" y="2469755"/>
            <a:chExt cx="2361962" cy="1589950"/>
          </a:xfrm>
        </p:grpSpPr>
        <p:sp>
          <p:nvSpPr>
            <p:cNvPr id="4" name="Text 1"/>
            <p:cNvSpPr/>
            <p:nvPr/>
          </p:nvSpPr>
          <p:spPr>
            <a:xfrm>
              <a:off x="1023004" y="2469755"/>
              <a:ext cx="2361962" cy="7149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5600"/>
                </a:lnSpc>
                <a:buNone/>
              </a:pPr>
              <a:r>
                <a:rPr lang="en-US" sz="5600" dirty="0">
                  <a:solidFill>
                    <a:srgbClr val="FFE5E5"/>
                  </a:solidFill>
                  <a:latin typeface="Dela Gothic One" pitchFamily="34" charset="0"/>
                  <a:ea typeface="Dela Gothic One" pitchFamily="34" charset="-122"/>
                  <a:cs typeface="Dela Gothic One" pitchFamily="34" charset="-120"/>
                </a:rPr>
                <a:t>2052</a:t>
              </a:r>
              <a:endParaRPr lang="en-US" sz="560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1023004" y="3347235"/>
              <a:ext cx="2361962" cy="712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800"/>
                </a:lnSpc>
                <a:buNone/>
              </a:pPr>
              <a:r>
                <a:rPr lang="en-US" sz="2200" dirty="0">
                  <a:solidFill>
                    <a:srgbClr val="FFE5E5"/>
                  </a:solidFill>
                  <a:latin typeface="Dela Gothic One" pitchFamily="34" charset="0"/>
                  <a:ea typeface="Dela Gothic One" pitchFamily="34" charset="-122"/>
                  <a:cs typeface="Dela Gothic One" pitchFamily="34" charset="-120"/>
                </a:rPr>
                <a:t>Tons of CO₂ Reduced Every year</a:t>
              </a:r>
              <a:endParaRPr lang="en-US" sz="22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1B55F24-D1AE-9DAE-82A7-A9F12AA20EB7}"/>
              </a:ext>
            </a:extLst>
          </p:cNvPr>
          <p:cNvGrpSpPr/>
          <p:nvPr/>
        </p:nvGrpSpPr>
        <p:grpSpPr>
          <a:xfrm>
            <a:off x="5645018" y="1796629"/>
            <a:ext cx="2496086" cy="1626867"/>
            <a:chOff x="3357379" y="2682957"/>
            <a:chExt cx="2496086" cy="1626867"/>
          </a:xfrm>
        </p:grpSpPr>
        <p:sp>
          <p:nvSpPr>
            <p:cNvPr id="7" name="Text 4"/>
            <p:cNvSpPr/>
            <p:nvPr/>
          </p:nvSpPr>
          <p:spPr>
            <a:xfrm>
              <a:off x="3357379" y="2682957"/>
              <a:ext cx="2361962" cy="7149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5600"/>
                </a:lnSpc>
                <a:buNone/>
              </a:pPr>
              <a:r>
                <a:rPr lang="en-US" sz="5600" dirty="0">
                  <a:solidFill>
                    <a:srgbClr val="FFE5E5"/>
                  </a:solidFill>
                  <a:latin typeface="Dela Gothic One" pitchFamily="34" charset="0"/>
                  <a:ea typeface="Dela Gothic One" pitchFamily="34" charset="-122"/>
                  <a:cs typeface="Dela Gothic One" pitchFamily="34" charset="-120"/>
                </a:rPr>
                <a:t>19.5%</a:t>
              </a:r>
              <a:endParaRPr lang="en-US" sz="56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3491503" y="3597354"/>
              <a:ext cx="2361962" cy="712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800"/>
                </a:lnSpc>
                <a:buNone/>
              </a:pPr>
              <a:r>
                <a:rPr lang="en-US" sz="2200" dirty="0">
                  <a:solidFill>
                    <a:srgbClr val="FFE5E5"/>
                  </a:solidFill>
                  <a:latin typeface="Dela Gothic One" pitchFamily="34" charset="0"/>
                  <a:ea typeface="Dela Gothic One" pitchFamily="34" charset="-122"/>
                  <a:cs typeface="Dela Gothic One" pitchFamily="34" charset="-120"/>
                </a:rPr>
                <a:t>Peak Grid Import Reduction</a:t>
              </a:r>
              <a:endParaRPr lang="en-US" sz="2200" dirty="0"/>
            </a:p>
          </p:txBody>
        </p:sp>
      </p:grpSp>
      <p:sp>
        <p:nvSpPr>
          <p:cNvPr id="10" name="Text 7"/>
          <p:cNvSpPr/>
          <p:nvPr/>
        </p:nvSpPr>
        <p:spPr>
          <a:xfrm>
            <a:off x="1367827" y="1786992"/>
            <a:ext cx="2361962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60</a:t>
            </a:r>
            <a:endParaRPr lang="en-US" sz="5600" dirty="0"/>
          </a:p>
        </p:txBody>
      </p:sp>
      <p:sp>
        <p:nvSpPr>
          <p:cNvPr id="11" name="Text 8"/>
          <p:cNvSpPr/>
          <p:nvPr/>
        </p:nvSpPr>
        <p:spPr>
          <a:xfrm>
            <a:off x="1367827" y="2667152"/>
            <a:ext cx="2361962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Days Simulated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37813" y="3250644"/>
            <a:ext cx="236196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25220B6-1FBD-156C-6CBC-BC2B53679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6148" y="7610725"/>
            <a:ext cx="2344252" cy="53465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FE9FA5D-E113-2003-2553-5ABB3BADFA29}"/>
              </a:ext>
            </a:extLst>
          </p:cNvPr>
          <p:cNvSpPr txBox="1"/>
          <p:nvPr/>
        </p:nvSpPr>
        <p:spPr>
          <a:xfrm>
            <a:off x="8006980" y="1737947"/>
            <a:ext cx="7315200" cy="816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600" b="0" i="0" u="none" strike="noStrike" kern="1200" cap="none" spc="0" normalizeH="0" baseline="0" noProof="0" dirty="0">
                <a:ln>
                  <a:noFill/>
                </a:ln>
                <a:solidFill>
                  <a:srgbClr val="FFE5E5"/>
                </a:solidFill>
                <a:effectLst/>
                <a:uLnTx/>
                <a:uFillTx/>
                <a:latin typeface="Dela Gothic One" pitchFamily="34" charset="0"/>
                <a:ea typeface="Dela Gothic One" pitchFamily="34" charset="-122"/>
                <a:cs typeface="+mn-cs"/>
              </a:rPr>
              <a:t>0.97</a:t>
            </a:r>
            <a:endParaRPr kumimoji="0" lang="en-US" sz="5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7193C6-9227-BA2C-C278-36222407B6AD}"/>
              </a:ext>
            </a:extLst>
          </p:cNvPr>
          <p:cNvSpPr txBox="1"/>
          <p:nvPr/>
        </p:nvSpPr>
        <p:spPr>
          <a:xfrm>
            <a:off x="8006980" y="2770775"/>
            <a:ext cx="7549816" cy="7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</a:rPr>
              <a:t>R2 Metric</a:t>
            </a:r>
          </a:p>
          <a:p>
            <a:pPr marL="0" indent="0" algn="ctr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</a:rPr>
              <a:t>Forecast Accuracy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E86363-AF43-8096-5A08-769F08920234}"/>
              </a:ext>
            </a:extLst>
          </p:cNvPr>
          <p:cNvSpPr txBox="1"/>
          <p:nvPr/>
        </p:nvSpPr>
        <p:spPr>
          <a:xfrm>
            <a:off x="-1185074" y="5006027"/>
            <a:ext cx="7664116" cy="1410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</a:rPr>
              <a:t>100%</a:t>
            </a:r>
          </a:p>
          <a:p>
            <a:pPr marL="0" indent="0" algn="ctr">
              <a:lnSpc>
                <a:spcPts val="56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</a:rPr>
              <a:t>Solar Utilization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1A15E4-C7AA-FC04-143E-5F79D55D6D2E}"/>
              </a:ext>
            </a:extLst>
          </p:cNvPr>
          <p:cNvSpPr txBox="1"/>
          <p:nvPr/>
        </p:nvSpPr>
        <p:spPr>
          <a:xfrm>
            <a:off x="3136471" y="4932524"/>
            <a:ext cx="7952874" cy="140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</a:rPr>
              <a:t>5.8 yrs</a:t>
            </a:r>
          </a:p>
          <a:p>
            <a:pPr marL="0" indent="0" algn="ctr">
              <a:lnSpc>
                <a:spcPts val="56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</a:rPr>
              <a:t>Estimated Payback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2B1BB1-21C3-C5EE-D9E1-5A9EFA18EB54}"/>
              </a:ext>
            </a:extLst>
          </p:cNvPr>
          <p:cNvSpPr/>
          <p:nvPr/>
        </p:nvSpPr>
        <p:spPr>
          <a:xfrm>
            <a:off x="1367827" y="1573620"/>
            <a:ext cx="2550556" cy="2343864"/>
          </a:xfrm>
          <a:prstGeom prst="rect">
            <a:avLst/>
          </a:prstGeom>
          <a:solidFill>
            <a:schemeClr val="accent4">
              <a:alpha val="14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D32452E-C617-5053-93A4-B0796CF3697F}"/>
              </a:ext>
            </a:extLst>
          </p:cNvPr>
          <p:cNvSpPr/>
          <p:nvPr/>
        </p:nvSpPr>
        <p:spPr>
          <a:xfrm>
            <a:off x="5361737" y="1626062"/>
            <a:ext cx="2967961" cy="2318001"/>
          </a:xfrm>
          <a:prstGeom prst="rect">
            <a:avLst/>
          </a:prstGeom>
          <a:solidFill>
            <a:schemeClr val="accent4">
              <a:alpha val="14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5C650F6-723E-DE34-69A9-E784A8F17E17}"/>
              </a:ext>
            </a:extLst>
          </p:cNvPr>
          <p:cNvSpPr/>
          <p:nvPr/>
        </p:nvSpPr>
        <p:spPr>
          <a:xfrm>
            <a:off x="9903953" y="1626062"/>
            <a:ext cx="3691592" cy="2279058"/>
          </a:xfrm>
          <a:prstGeom prst="rect">
            <a:avLst/>
          </a:prstGeom>
          <a:solidFill>
            <a:schemeClr val="accent4">
              <a:alpha val="14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98D6283-EBD5-161B-590E-0E7ED0A044BA}"/>
              </a:ext>
            </a:extLst>
          </p:cNvPr>
          <p:cNvSpPr/>
          <p:nvPr/>
        </p:nvSpPr>
        <p:spPr>
          <a:xfrm>
            <a:off x="1187255" y="4666166"/>
            <a:ext cx="3053844" cy="2411039"/>
          </a:xfrm>
          <a:prstGeom prst="rect">
            <a:avLst/>
          </a:prstGeom>
          <a:solidFill>
            <a:schemeClr val="accent4">
              <a:alpha val="14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6ECBB75-2204-FBE1-1772-A3061D3441C4}"/>
              </a:ext>
            </a:extLst>
          </p:cNvPr>
          <p:cNvSpPr/>
          <p:nvPr/>
        </p:nvSpPr>
        <p:spPr>
          <a:xfrm>
            <a:off x="5275853" y="4666165"/>
            <a:ext cx="3575517" cy="2411040"/>
          </a:xfrm>
          <a:prstGeom prst="rect">
            <a:avLst/>
          </a:prstGeom>
          <a:solidFill>
            <a:schemeClr val="accent4">
              <a:alpha val="14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A0AE97F-5C6A-90A2-8105-6A22F14DD76D}"/>
              </a:ext>
            </a:extLst>
          </p:cNvPr>
          <p:cNvSpPr/>
          <p:nvPr/>
        </p:nvSpPr>
        <p:spPr>
          <a:xfrm>
            <a:off x="10389301" y="4666165"/>
            <a:ext cx="3053843" cy="2411039"/>
          </a:xfrm>
          <a:prstGeom prst="rect">
            <a:avLst/>
          </a:prstGeom>
          <a:solidFill>
            <a:schemeClr val="accent4">
              <a:alpha val="14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8229600"/>
          </a:xfrm>
          <a:prstGeom prst="line">
            <a:avLst/>
          </a:prstGeom>
          <a:noFill/>
          <a:ln w="6350">
            <a:solidFill>
              <a:srgbClr val="1A25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14630400" cy="0"/>
          </a:xfrm>
          <a:prstGeom prst="line">
            <a:avLst/>
          </a:prstGeom>
          <a:noFill/>
          <a:ln w="6350">
            <a:solidFill>
              <a:srgbClr val="1A25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14630400" cy="994867"/>
          </a:xfrm>
          <a:prstGeom prst="rect">
            <a:avLst/>
          </a:prstGeom>
          <a:solidFill>
            <a:srgbClr val="0D1526"/>
          </a:solidFill>
          <a:ln w="12700">
            <a:solidFill>
              <a:srgbClr val="0D15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190195"/>
            <a:ext cx="950976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463040"/>
            <a:r>
              <a:rPr lang="en-US" sz="3200" b="1" i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 ·  INDUSTRY ALIGNMENT</a:t>
            </a:r>
            <a:endParaRPr lang="en-US" sz="3200" i="1" u="sng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1850624" y="175565"/>
            <a:ext cx="2560320" cy="614477"/>
          </a:xfrm>
          <a:prstGeom prst="rect">
            <a:avLst/>
          </a:prstGeom>
          <a:solidFill>
            <a:srgbClr val="00C6FF">
              <a:alpha val="15000"/>
            </a:srgbClr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50624" y="175565"/>
            <a:ext cx="256032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463040"/>
            <a:r>
              <a:rPr lang="en-US" sz="1600" b="1" dirty="0">
                <a:solidFill>
                  <a:srgbClr val="00C6FF"/>
                </a:solidFill>
                <a:latin typeface="Calibri" panose="020F0502020204030204"/>
              </a:rPr>
              <a:t>ESP32 → GRID-SCALE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65760" y="1199693"/>
            <a:ext cx="4242816" cy="5654646"/>
          </a:xfrm>
          <a:prstGeom prst="rect">
            <a:avLst/>
          </a:prstGeom>
          <a:solidFill>
            <a:srgbClr val="0B1F30"/>
          </a:solidFill>
          <a:ln w="15240">
            <a:solidFill>
              <a:srgbClr val="00C6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1199693"/>
            <a:ext cx="4242816" cy="87782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" y="1375258"/>
            <a:ext cx="3950208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463040"/>
            <a:r>
              <a:rPr lang="en-US" sz="2000" b="1" kern="0" spc="640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12064" y="1814170"/>
            <a:ext cx="3950208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463040"/>
            <a:r>
              <a:rPr lang="en-US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26695" y="2399385"/>
            <a:ext cx="3920947" cy="790042"/>
          </a:xfrm>
          <a:prstGeom prst="rect">
            <a:avLst/>
          </a:prstGeom>
          <a:solidFill>
            <a:srgbClr val="0D2235"/>
          </a:solidFill>
          <a:ln w="8890">
            <a:solidFill>
              <a:srgbClr val="1A3A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2457907"/>
            <a:ext cx="36576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120" dirty="0">
                <a:solidFill>
                  <a:srgbClr val="00C6FF"/>
                </a:solidFill>
                <a:latin typeface="Calibri" panose="020F0502020204030204"/>
              </a:rPr>
              <a:t>◉</a:t>
            </a:r>
            <a:endParaRPr lang="en-US" sz="11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24128" y="2457907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24128" y="2765146"/>
            <a:ext cx="3218688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26695" y="3306470"/>
            <a:ext cx="3920947" cy="790042"/>
          </a:xfrm>
          <a:prstGeom prst="rect">
            <a:avLst/>
          </a:prstGeom>
          <a:solidFill>
            <a:srgbClr val="0D2235"/>
          </a:solidFill>
          <a:ln w="8890">
            <a:solidFill>
              <a:srgbClr val="1A3A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3364992"/>
            <a:ext cx="36576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120" dirty="0">
                <a:solidFill>
                  <a:srgbClr val="00C6FF"/>
                </a:solidFill>
                <a:latin typeface="Calibri" panose="020F0502020204030204"/>
              </a:rPr>
              <a:t>◉</a:t>
            </a:r>
            <a:endParaRPr lang="en-US" sz="11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24128" y="3364992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24128" y="3672230"/>
            <a:ext cx="3218688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Sensors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26695" y="4213555"/>
            <a:ext cx="3920947" cy="790042"/>
          </a:xfrm>
          <a:prstGeom prst="rect">
            <a:avLst/>
          </a:prstGeom>
          <a:solidFill>
            <a:srgbClr val="0D2235"/>
          </a:solidFill>
          <a:ln w="8890">
            <a:solidFill>
              <a:srgbClr val="1A3A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" y="4272077"/>
            <a:ext cx="36576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120" dirty="0">
                <a:solidFill>
                  <a:srgbClr val="00C6FF"/>
                </a:solidFill>
                <a:latin typeface="Calibri" panose="020F0502020204030204"/>
              </a:rPr>
              <a:t>◉</a:t>
            </a:r>
            <a:endParaRPr lang="en-US" sz="11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024128" y="4272077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24128" y="4579315"/>
            <a:ext cx="3218688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26695" y="5120640"/>
            <a:ext cx="3920947" cy="790042"/>
          </a:xfrm>
          <a:prstGeom prst="rect">
            <a:avLst/>
          </a:prstGeom>
          <a:solidFill>
            <a:srgbClr val="0D2235"/>
          </a:solidFill>
          <a:ln w="8890">
            <a:solidFill>
              <a:srgbClr val="1A3A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" y="5179162"/>
            <a:ext cx="36576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120" dirty="0">
                <a:solidFill>
                  <a:srgbClr val="00C6FF"/>
                </a:solidFill>
                <a:latin typeface="Calibri" panose="020F0502020204030204"/>
              </a:rPr>
              <a:t>◉</a:t>
            </a:r>
            <a:endParaRPr lang="en-US" sz="11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024128" y="5179162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024128" y="5486400"/>
            <a:ext cx="3218688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/ Demo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5003597" y="1199693"/>
            <a:ext cx="4608576" cy="5654646"/>
          </a:xfrm>
          <a:prstGeom prst="rect">
            <a:avLst/>
          </a:prstGeom>
          <a:solidFill>
            <a:srgbClr val="121A0F"/>
          </a:solidFill>
          <a:ln w="15240">
            <a:solidFill>
              <a:srgbClr val="FFD166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003597" y="1199693"/>
            <a:ext cx="4608576" cy="8778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49901" y="1375258"/>
            <a:ext cx="4315968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463040"/>
            <a:r>
              <a:rPr lang="en-US" b="1" kern="0" spc="32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STAYS SAME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5149901" y="1814170"/>
            <a:ext cx="4315968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463040"/>
            <a:r>
              <a:rPr lang="en-US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Intelligence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5164531" y="2399385"/>
            <a:ext cx="4286707" cy="790042"/>
          </a:xfrm>
          <a:prstGeom prst="rect">
            <a:avLst/>
          </a:prstGeom>
          <a:solidFill>
            <a:srgbClr val="1A2210"/>
          </a:solidFill>
          <a:ln w="8890">
            <a:solidFill>
              <a:srgbClr val="2A3A1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96205" y="2457907"/>
            <a:ext cx="36576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120" dirty="0">
                <a:solidFill>
                  <a:srgbClr val="FFD166"/>
                </a:solidFill>
                <a:latin typeface="Calibri" panose="020F0502020204030204"/>
              </a:rPr>
              <a:t>★</a:t>
            </a:r>
            <a:endParaRPr lang="en-US" sz="11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676595" y="2457907"/>
            <a:ext cx="36576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52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Inference Model</a:t>
            </a:r>
            <a:endParaRPr lang="en-US" sz="15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5676595" y="27797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neural network logic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5164531" y="3306470"/>
            <a:ext cx="4286707" cy="790042"/>
          </a:xfrm>
          <a:prstGeom prst="rect">
            <a:avLst/>
          </a:prstGeom>
          <a:solidFill>
            <a:srgbClr val="1A2210"/>
          </a:solidFill>
          <a:ln w="8890">
            <a:solidFill>
              <a:srgbClr val="2A3A1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96205" y="3364992"/>
            <a:ext cx="36576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120" dirty="0">
                <a:solidFill>
                  <a:srgbClr val="FFD166"/>
                </a:solidFill>
                <a:latin typeface="Calibri" panose="020F0502020204030204"/>
              </a:rPr>
              <a:t>★</a:t>
            </a:r>
            <a:endParaRPr lang="en-US" sz="11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676595" y="3364992"/>
            <a:ext cx="36576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52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Dispatch Logic</a:t>
            </a:r>
            <a:endParaRPr lang="en-US" sz="15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5676595" y="3686861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&amp; control strategy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5164531" y="4213555"/>
            <a:ext cx="4286707" cy="790042"/>
          </a:xfrm>
          <a:prstGeom prst="rect">
            <a:avLst/>
          </a:prstGeom>
          <a:solidFill>
            <a:srgbClr val="1A2210"/>
          </a:solidFill>
          <a:ln w="8890">
            <a:solidFill>
              <a:srgbClr val="2A3A1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96205" y="4272077"/>
            <a:ext cx="36576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120" dirty="0">
                <a:solidFill>
                  <a:srgbClr val="FFD166"/>
                </a:solidFill>
                <a:latin typeface="Calibri" panose="020F0502020204030204"/>
              </a:rPr>
              <a:t>★</a:t>
            </a:r>
            <a:endParaRPr lang="en-US" sz="11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5676595" y="4272077"/>
            <a:ext cx="36576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52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Architecture</a:t>
            </a:r>
            <a:endParaRPr lang="en-US" sz="15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5676595" y="459394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→ Infer → Decide → Act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5164531" y="5120640"/>
            <a:ext cx="4286707" cy="790042"/>
          </a:xfrm>
          <a:prstGeom prst="rect">
            <a:avLst/>
          </a:prstGeom>
          <a:solidFill>
            <a:srgbClr val="1A2210"/>
          </a:solidFill>
          <a:ln w="8890">
            <a:solidFill>
              <a:srgbClr val="2A3A1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296205" y="5179162"/>
            <a:ext cx="36576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120" dirty="0">
                <a:solidFill>
                  <a:srgbClr val="FFD166"/>
                </a:solidFill>
                <a:latin typeface="Calibri" panose="020F0502020204030204"/>
              </a:rPr>
              <a:t>★</a:t>
            </a:r>
            <a:endParaRPr lang="en-US" sz="11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5676595" y="5179162"/>
            <a:ext cx="36576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52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Strategy</a:t>
            </a:r>
            <a:endParaRPr lang="en-US" sz="15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5676595" y="550103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Priority, scheduling, thresholds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10021824" y="1199693"/>
            <a:ext cx="4242816" cy="5654645"/>
          </a:xfrm>
          <a:prstGeom prst="rect">
            <a:avLst/>
          </a:prstGeom>
          <a:solidFill>
            <a:srgbClr val="071A14"/>
          </a:solidFill>
          <a:ln w="15240">
            <a:solidFill>
              <a:srgbClr val="00E5A0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10021824" y="1199693"/>
            <a:ext cx="4242816" cy="8778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168128" y="1375258"/>
            <a:ext cx="3950208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463040"/>
            <a:r>
              <a:rPr lang="en-US" b="1" kern="0" spc="48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10168128" y="1814170"/>
            <a:ext cx="3950208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463040"/>
            <a:r>
              <a:rPr lang="en-US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Deployment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10182759" y="2399385"/>
            <a:ext cx="3920947" cy="790042"/>
          </a:xfrm>
          <a:prstGeom prst="rect">
            <a:avLst/>
          </a:prstGeom>
          <a:solidFill>
            <a:srgbClr val="0A2218"/>
          </a:solidFill>
          <a:ln w="8890">
            <a:solidFill>
              <a:srgbClr val="1A403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314432" y="2457907"/>
            <a:ext cx="36576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120" dirty="0">
                <a:solidFill>
                  <a:srgbClr val="00E5A0"/>
                </a:solidFill>
                <a:latin typeface="Calibri" panose="020F0502020204030204"/>
              </a:rPr>
              <a:t>◉</a:t>
            </a:r>
            <a:endParaRPr lang="en-US" sz="11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10680192" y="2457907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10680192" y="2765146"/>
            <a:ext cx="3218688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GridEdge Node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10182759" y="3306470"/>
            <a:ext cx="3920947" cy="790042"/>
          </a:xfrm>
          <a:prstGeom prst="rect">
            <a:avLst/>
          </a:prstGeom>
          <a:solidFill>
            <a:srgbClr val="0A2218"/>
          </a:solidFill>
          <a:ln w="8890">
            <a:solidFill>
              <a:srgbClr val="1A403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314432" y="3364992"/>
            <a:ext cx="36576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120" dirty="0">
                <a:solidFill>
                  <a:srgbClr val="00E5A0"/>
                </a:solidFill>
                <a:latin typeface="Calibri" panose="020F0502020204030204"/>
              </a:rPr>
              <a:t>◉</a:t>
            </a:r>
            <a:endParaRPr lang="en-US" sz="11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10680192" y="3364992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10680192" y="3672230"/>
            <a:ext cx="3218688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BESCOM AMI / IED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10182759" y="4213555"/>
            <a:ext cx="3920947" cy="790042"/>
          </a:xfrm>
          <a:prstGeom prst="rect">
            <a:avLst/>
          </a:prstGeom>
          <a:solidFill>
            <a:srgbClr val="0A2218"/>
          </a:solidFill>
          <a:ln w="8890">
            <a:solidFill>
              <a:srgbClr val="1A403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314432" y="4272077"/>
            <a:ext cx="36576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120" dirty="0">
                <a:solidFill>
                  <a:srgbClr val="00E5A0"/>
                </a:solidFill>
                <a:latin typeface="Calibri" panose="020F0502020204030204"/>
              </a:rPr>
              <a:t>◉</a:t>
            </a:r>
            <a:endParaRPr lang="en-US" sz="11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10680192" y="4272077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10680192" y="4579315"/>
            <a:ext cx="3218688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61850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10182759" y="5120640"/>
            <a:ext cx="3920947" cy="790042"/>
          </a:xfrm>
          <a:prstGeom prst="rect">
            <a:avLst/>
          </a:prstGeom>
          <a:solidFill>
            <a:srgbClr val="0A2218"/>
          </a:solidFill>
          <a:ln w="8890">
            <a:solidFill>
              <a:srgbClr val="1A403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314432" y="5179162"/>
            <a:ext cx="36576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120" dirty="0">
                <a:solidFill>
                  <a:srgbClr val="00E5A0"/>
                </a:solidFill>
                <a:latin typeface="Calibri" panose="020F0502020204030204"/>
              </a:rPr>
              <a:t>◉</a:t>
            </a:r>
            <a:endParaRPr lang="en-US" sz="11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10680192" y="5179162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2" name="Text 80"/>
          <p:cNvSpPr/>
          <p:nvPr/>
        </p:nvSpPr>
        <p:spPr>
          <a:xfrm>
            <a:off x="10680192" y="5486400"/>
            <a:ext cx="3218688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Deployment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3" name="Shape 81"/>
          <p:cNvSpPr/>
          <p:nvPr/>
        </p:nvSpPr>
        <p:spPr>
          <a:xfrm>
            <a:off x="4623207" y="3701491"/>
            <a:ext cx="380390" cy="0"/>
          </a:xfrm>
          <a:prstGeom prst="line">
            <a:avLst/>
          </a:prstGeom>
          <a:noFill/>
          <a:ln w="25400">
            <a:solidFill>
              <a:srgbClr val="FFD16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637837" y="3525926"/>
            <a:ext cx="292608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440" dirty="0">
                <a:solidFill>
                  <a:srgbClr val="FFD166"/>
                </a:solidFill>
                <a:latin typeface="Calibri" panose="020F0502020204030204"/>
              </a:rPr>
              <a:t>▶</a:t>
            </a:r>
            <a:endParaRPr lang="en-US" sz="14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9612173" y="3701491"/>
            <a:ext cx="409651" cy="0"/>
          </a:xfrm>
          <a:prstGeom prst="line">
            <a:avLst/>
          </a:prstGeom>
          <a:noFill/>
          <a:ln w="25400">
            <a:solidFill>
              <a:srgbClr val="FFD16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641434" y="3525926"/>
            <a:ext cx="292608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463040"/>
            <a:r>
              <a:rPr lang="en-US" sz="1440" dirty="0">
                <a:solidFill>
                  <a:srgbClr val="FFD166"/>
                </a:solidFill>
                <a:latin typeface="Calibri" panose="020F0502020204030204"/>
              </a:rPr>
              <a:t>▶</a:t>
            </a:r>
            <a:endParaRPr lang="en-US" sz="14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9" name="Text 87"/>
          <p:cNvSpPr/>
          <p:nvPr/>
        </p:nvSpPr>
        <p:spPr>
          <a:xfrm>
            <a:off x="438912" y="6364224"/>
            <a:ext cx="58521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463040"/>
            <a:endParaRPr lang="en-US" sz="512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171</Words>
  <Application>Microsoft Office PowerPoint</Application>
  <PresentationFormat>Custom</PresentationFormat>
  <Paragraphs>73</Paragraphs>
  <Slides>10</Slides>
  <Notes>4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Dela Gothic One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Aashish Agarwal</dc:creator>
  <cp:lastModifiedBy>Aashish Agarwal</cp:lastModifiedBy>
  <cp:revision>5</cp:revision>
  <dcterms:created xsi:type="dcterms:W3CDTF">2026-03-21T05:57:47Z</dcterms:created>
  <dcterms:modified xsi:type="dcterms:W3CDTF">2026-03-22T08:09:36Z</dcterms:modified>
</cp:coreProperties>
</file>